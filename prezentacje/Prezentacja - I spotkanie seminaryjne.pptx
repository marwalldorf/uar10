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391" r:id="rId2"/>
    <p:sldId id="321" r:id="rId3"/>
    <p:sldId id="393" r:id="rId4"/>
    <p:sldId id="394" r:id="rId5"/>
    <p:sldId id="395" r:id="rId6"/>
    <p:sldId id="396" r:id="rId7"/>
    <p:sldId id="398" r:id="rId8"/>
    <p:sldId id="399" r:id="rId9"/>
    <p:sldId id="392" r:id="rId10"/>
  </p:sldIdLst>
  <p:sldSz cx="24384000" cy="13716000"/>
  <p:notesSz cx="9144000" cy="6858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C9324A95-C179-42B0-88B6-91656287D470}">
          <p14:sldIdLst>
            <p14:sldId id="391"/>
            <p14:sldId id="321"/>
            <p14:sldId id="393"/>
            <p14:sldId id="394"/>
            <p14:sldId id="395"/>
            <p14:sldId id="396"/>
            <p14:sldId id="398"/>
            <p14:sldId id="399"/>
            <p14:sldId id="39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C8E"/>
    <a:srgbClr val="0B294C"/>
    <a:srgbClr val="FBBA00"/>
    <a:srgbClr val="535353"/>
    <a:srgbClr val="087F7F"/>
    <a:srgbClr val="DCDDDF"/>
    <a:srgbClr val="7F7F7F"/>
    <a:srgbClr val="19A6CD"/>
    <a:srgbClr val="00B050"/>
    <a:srgbClr val="1BB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71" autoAdjust="0"/>
    <p:restoredTop sz="94678" autoAdjust="0"/>
  </p:normalViewPr>
  <p:slideViewPr>
    <p:cSldViewPr snapToGrid="0" showGuides="1">
      <p:cViewPr varScale="1">
        <p:scale>
          <a:sx n="52" d="100"/>
          <a:sy n="52" d="100"/>
        </p:scale>
        <p:origin x="516" y="96"/>
      </p:cViewPr>
      <p:guideLst/>
    </p:cSldViewPr>
  </p:slideViewPr>
  <p:outlineViewPr>
    <p:cViewPr>
      <p:scale>
        <a:sx n="33" d="100"/>
        <a:sy n="33" d="100"/>
      </p:scale>
      <p:origin x="0" y="-45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7696"/>
    </p:cViewPr>
  </p:sorterViewPr>
  <p:notesViewPr>
    <p:cSldViewPr snapToGrid="0" showGuides="1">
      <p:cViewPr varScale="1">
        <p:scale>
          <a:sx n="165" d="100"/>
          <a:sy n="165" d="100"/>
        </p:scale>
        <p:origin x="2892" y="1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ymbol zastępczy stopki 5"/>
          <p:cNvSpPr>
            <a:spLocks noGrp="1"/>
          </p:cNvSpPr>
          <p:nvPr>
            <p:ph type="ftr" sz="quarter" idx="2"/>
          </p:nvPr>
        </p:nvSpPr>
        <p:spPr>
          <a:xfrm>
            <a:off x="645042" y="5314550"/>
            <a:ext cx="7861005" cy="3440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27524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CBC42-6563-49C0-9AB0-0B46679F5AB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DD579-49B2-4848-8B9E-FAC72A3B8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8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45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C1C5-88EC-8846-E352-AD4AAEB0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D89F3-104E-22E3-6950-0EEF3B565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C61BB-DC10-768C-C4B5-D3B88D706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37FAC-E054-EA16-6E15-7471E2E2E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57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335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5435600" y="3057525"/>
            <a:ext cx="135128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88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312400" y="3057525"/>
            <a:ext cx="123952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98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4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Welcome Mess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115447" y="3529906"/>
            <a:ext cx="6778196" cy="66561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94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About U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257490" y="3513538"/>
            <a:ext cx="3128210" cy="3128210"/>
          </a:xfrm>
          <a:custGeom>
            <a:avLst/>
            <a:gdLst>
              <a:gd name="connsiteX0" fmla="*/ 1564105 w 3128210"/>
              <a:gd name="connsiteY0" fmla="*/ 0 h 3128210"/>
              <a:gd name="connsiteX1" fmla="*/ 3128210 w 3128210"/>
              <a:gd name="connsiteY1" fmla="*/ 1564105 h 3128210"/>
              <a:gd name="connsiteX2" fmla="*/ 1564105 w 3128210"/>
              <a:gd name="connsiteY2" fmla="*/ 3128210 h 3128210"/>
              <a:gd name="connsiteX3" fmla="*/ 0 w 3128210"/>
              <a:gd name="connsiteY3" fmla="*/ 1564105 h 3128210"/>
              <a:gd name="connsiteX4" fmla="*/ 1564105 w 3128210"/>
              <a:gd name="connsiteY4" fmla="*/ 0 h 312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8210" h="3128210">
                <a:moveTo>
                  <a:pt x="1564105" y="0"/>
                </a:moveTo>
                <a:cubicBezTo>
                  <a:pt x="2427936" y="0"/>
                  <a:pt x="3128210" y="700274"/>
                  <a:pt x="3128210" y="1564105"/>
                </a:cubicBezTo>
                <a:cubicBezTo>
                  <a:pt x="3128210" y="2427936"/>
                  <a:pt x="2427936" y="3128210"/>
                  <a:pt x="1564105" y="3128210"/>
                </a:cubicBezTo>
                <a:cubicBezTo>
                  <a:pt x="700274" y="3128210"/>
                  <a:pt x="0" y="2427936"/>
                  <a:pt x="0" y="1564105"/>
                </a:cubicBezTo>
                <a:cubicBezTo>
                  <a:pt x="0" y="700274"/>
                  <a:pt x="700274" y="0"/>
                  <a:pt x="1564105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804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Company TImelin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4910963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78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Company TImelin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1646238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0100109" y="6785061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74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-Company TImelin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0100109" y="4091055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71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-Our Suc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2649200" y="5354283"/>
            <a:ext cx="10058400" cy="67123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4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Our Dedicated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9890564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219976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549388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9878800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9890564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3219976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549388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19878800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025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-Meet the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957996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850089" y="596531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82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78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-Meet the Team Expe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679516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710848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79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200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-Meet the Cr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132257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3437220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8742182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570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-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7844476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861661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7878845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01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-Slide with Two Narrow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7733492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2551343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755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-Digita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7418145" y="1646238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0" y="6073540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76400" y="1646238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7418144" y="7851385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720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-Design 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0"/>
            <a:ext cx="6024607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745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-Design &amp; Pr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9020548" y="17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043611" y="36593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419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-Photograph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21031201" cy="12069762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93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-Our Studi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19900" cy="13716000"/>
          </a:xfrm>
          <a:custGeom>
            <a:avLst/>
            <a:gdLst>
              <a:gd name="connsiteX0" fmla="*/ 0 w 6819900"/>
              <a:gd name="connsiteY0" fmla="*/ 0 h 13716000"/>
              <a:gd name="connsiteX1" fmla="*/ 6819900 w 6819900"/>
              <a:gd name="connsiteY1" fmla="*/ 0 h 13716000"/>
              <a:gd name="connsiteX2" fmla="*/ 6819900 w 6819900"/>
              <a:gd name="connsiteY2" fmla="*/ 13716000 h 13716000"/>
              <a:gd name="connsiteX3" fmla="*/ 0 w 6819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13716000">
                <a:moveTo>
                  <a:pt x="0" y="0"/>
                </a:moveTo>
                <a:lnTo>
                  <a:pt x="6819900" y="0"/>
                </a:lnTo>
                <a:lnTo>
                  <a:pt x="681990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7115946" y="0"/>
            <a:ext cx="6819900" cy="6709978"/>
          </a:xfrm>
          <a:custGeom>
            <a:avLst/>
            <a:gdLst>
              <a:gd name="connsiteX0" fmla="*/ 0 w 6819900"/>
              <a:gd name="connsiteY0" fmla="*/ 0 h 6709978"/>
              <a:gd name="connsiteX1" fmla="*/ 6819900 w 6819900"/>
              <a:gd name="connsiteY1" fmla="*/ 0 h 6709978"/>
              <a:gd name="connsiteX2" fmla="*/ 6819900 w 6819900"/>
              <a:gd name="connsiteY2" fmla="*/ 6709978 h 6709978"/>
              <a:gd name="connsiteX3" fmla="*/ 0 w 6819900"/>
              <a:gd name="connsiteY3" fmla="*/ 6709978 h 67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09978">
                <a:moveTo>
                  <a:pt x="0" y="0"/>
                </a:moveTo>
                <a:lnTo>
                  <a:pt x="6819900" y="0"/>
                </a:lnTo>
                <a:lnTo>
                  <a:pt x="6819900" y="6709978"/>
                </a:lnTo>
                <a:lnTo>
                  <a:pt x="0" y="67099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7115946" y="7000240"/>
            <a:ext cx="6819900" cy="6715760"/>
          </a:xfrm>
          <a:custGeom>
            <a:avLst/>
            <a:gdLst>
              <a:gd name="connsiteX0" fmla="*/ 0 w 6819900"/>
              <a:gd name="connsiteY0" fmla="*/ 0 h 6715760"/>
              <a:gd name="connsiteX1" fmla="*/ 6819900 w 6819900"/>
              <a:gd name="connsiteY1" fmla="*/ 0 h 6715760"/>
              <a:gd name="connsiteX2" fmla="*/ 6819900 w 6819900"/>
              <a:gd name="connsiteY2" fmla="*/ 6715760 h 6715760"/>
              <a:gd name="connsiteX3" fmla="*/ 0 w 6819900"/>
              <a:gd name="connsiteY3" fmla="*/ 6715760 h 671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15760">
                <a:moveTo>
                  <a:pt x="0" y="0"/>
                </a:moveTo>
                <a:lnTo>
                  <a:pt x="6819900" y="0"/>
                </a:lnTo>
                <a:lnTo>
                  <a:pt x="6819900" y="6715760"/>
                </a:lnTo>
                <a:lnTo>
                  <a:pt x="0" y="671576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94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-Customer Testemonial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2827293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3775555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3775555" y="164623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57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-Slide with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933407" y="1646238"/>
            <a:ext cx="10774194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82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-Slide with 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9229021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4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-Our 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4688151" y="1646238"/>
            <a:ext cx="8019449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182275" y="587141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63700" y="817099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4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-Photo Gallery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75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-Photo Gallery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696226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767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-Photo Gallery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9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34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-Photo Gallery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755945" y="1646238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5835489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0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24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-Photo Gallery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7605376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295719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698605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39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140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-Photo Gallery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7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76401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9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5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882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-Photo Gallery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8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8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4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76401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501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-Photo Gallery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401" y="6155450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5835488" y="1646236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5835488" y="7772842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8735292" y="1646236"/>
            <a:ext cx="6872112" cy="103978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548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-Photo Gallery Slide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7605376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2295717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6986059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9"/>
          </p:nvPr>
        </p:nvSpPr>
        <p:spPr>
          <a:xfrm>
            <a:off x="1676401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20"/>
          </p:nvPr>
        </p:nvSpPr>
        <p:spPr>
          <a:xfrm>
            <a:off x="17605376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21"/>
          </p:nvPr>
        </p:nvSpPr>
        <p:spPr>
          <a:xfrm>
            <a:off x="12295717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0" name="Picture Placeholder 26"/>
          <p:cNvSpPr>
            <a:spLocks noGrp="1"/>
          </p:cNvSpPr>
          <p:nvPr>
            <p:ph type="pic" sz="quarter" idx="22"/>
          </p:nvPr>
        </p:nvSpPr>
        <p:spPr>
          <a:xfrm>
            <a:off x="6986059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83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-Portfolio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464580" y="5660195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1118103" y="5023564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9967142" y="8106820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78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-Mobile App in The Ha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846551" y="2578101"/>
            <a:ext cx="3177116" cy="560705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bg1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bg1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4" name="TextBox 10"/>
          <p:cNvSpPr txBox="1"/>
          <p:nvPr userDrawn="1"/>
        </p:nvSpPr>
        <p:spPr>
          <a:xfrm>
            <a:off x="481263" y="68103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8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-Project Showca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6847909" y="4374834"/>
            <a:ext cx="10688251" cy="67046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18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-App Featur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2366433" y="2927350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7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-App in Wat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414002" y="4572000"/>
            <a:ext cx="3718558" cy="465751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39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-App Design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020301" y="2929467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064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-Portfolio in Macboo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623446" y="3017672"/>
            <a:ext cx="11057753" cy="69264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1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-Macbook &amp; iPhone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-1460500" y="3395133"/>
            <a:ext cx="10024533" cy="62568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7736177" y="6424082"/>
            <a:ext cx="3270490" cy="578485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46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-Web Design &amp; Develop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291326" y="2840682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3159194" y="5839572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12012678" y="8920766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61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-Portfolio in iMa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440160" y="2557432"/>
            <a:ext cx="10480040" cy="631351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87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-Portfolio in iPhon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8513233" y="6081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3686084" y="43666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8722109" y="2652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656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stokąt 9"/>
          <p:cNvSpPr/>
          <p:nvPr userDrawn="1"/>
        </p:nvSpPr>
        <p:spPr>
          <a:xfrm>
            <a:off x="0" y="12079288"/>
            <a:ext cx="24384000" cy="1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/>
          <p:cNvSpPr txBox="1"/>
          <p:nvPr userDrawn="1"/>
        </p:nvSpPr>
        <p:spPr>
          <a:xfrm>
            <a:off x="16836424" y="12612289"/>
            <a:ext cx="7098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CURABITUR</a:t>
            </a:r>
            <a:r>
              <a:rPr lang="pl-PL" sz="30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 PULVINAR QUAM</a:t>
            </a: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226" y="12272895"/>
            <a:ext cx="3334313" cy="12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7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9" r:id="rId2"/>
    <p:sldLayoutId id="2147483710" r:id="rId3"/>
    <p:sldLayoutId id="2147483682" r:id="rId4"/>
    <p:sldLayoutId id="2147483691" r:id="rId5"/>
    <p:sldLayoutId id="2147483693" r:id="rId6"/>
    <p:sldLayoutId id="2147483713" r:id="rId7"/>
    <p:sldLayoutId id="2147483714" r:id="rId8"/>
    <p:sldLayoutId id="2147483715" r:id="rId9"/>
    <p:sldLayoutId id="2147483730" r:id="rId10"/>
    <p:sldLayoutId id="2147483707" r:id="rId11"/>
    <p:sldLayoutId id="2147483705" r:id="rId12"/>
    <p:sldLayoutId id="2147483712" r:id="rId13"/>
    <p:sldLayoutId id="2147483706" r:id="rId14"/>
    <p:sldLayoutId id="2147483719" r:id="rId15"/>
    <p:sldLayoutId id="2147483716" r:id="rId16"/>
    <p:sldLayoutId id="2147483718" r:id="rId17"/>
    <p:sldLayoutId id="2147483708" r:id="rId18"/>
    <p:sldLayoutId id="2147483692" r:id="rId19"/>
    <p:sldLayoutId id="2147483690" r:id="rId20"/>
    <p:sldLayoutId id="2147483686" r:id="rId21"/>
    <p:sldLayoutId id="2147483720" r:id="rId22"/>
    <p:sldLayoutId id="2147483685" r:id="rId23"/>
    <p:sldLayoutId id="2147483684" r:id="rId24"/>
    <p:sldLayoutId id="2147483689" r:id="rId25"/>
    <p:sldLayoutId id="2147483722" r:id="rId26"/>
    <p:sldLayoutId id="2147483723" r:id="rId27"/>
    <p:sldLayoutId id="2147483721" r:id="rId28"/>
    <p:sldLayoutId id="2147483725" r:id="rId29"/>
    <p:sldLayoutId id="2147483724" r:id="rId30"/>
    <p:sldLayoutId id="2147483726" r:id="rId31"/>
    <p:sldLayoutId id="2147483727" r:id="rId32"/>
    <p:sldLayoutId id="2147483728" r:id="rId33"/>
    <p:sldLayoutId id="2147483729" r:id="rId34"/>
    <p:sldLayoutId id="2147483697" r:id="rId35"/>
    <p:sldLayoutId id="2147483704" r:id="rId36"/>
    <p:sldLayoutId id="2147483702" r:id="rId37"/>
    <p:sldLayoutId id="2147483701" r:id="rId38"/>
    <p:sldLayoutId id="2147483700" r:id="rId39"/>
    <p:sldLayoutId id="2147483699" r:id="rId40"/>
    <p:sldLayoutId id="2147483694" r:id="rId41"/>
    <p:sldLayoutId id="2147483698" r:id="rId42"/>
    <p:sldLayoutId id="2147483717" r:id="rId43"/>
    <p:sldLayoutId id="2147483695" r:id="rId44"/>
    <p:sldLayoutId id="2147483696" r:id="rId4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  <p15:guide id="3" orient="horz" pos="1031">
          <p15:clr>
            <a:srgbClr val="F26B43"/>
          </p15:clr>
        </p15:guide>
        <p15:guide id="4" pos="1012">
          <p15:clr>
            <a:srgbClr val="F26B43"/>
          </p15:clr>
        </p15:guide>
        <p15:guide id="5" pos="14348">
          <p15:clr>
            <a:srgbClr val="F26B43"/>
          </p15:clr>
        </p15:guide>
        <p15:guide id="6" orient="horz" pos="6588">
          <p15:clr>
            <a:srgbClr val="F26B43"/>
          </p15:clr>
        </p15:guide>
        <p15:guide id="7" orient="horz" pos="76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ymbol zastępczy obrazu 12">
            <a:extLst>
              <a:ext uri="{FF2B5EF4-FFF2-40B4-BE49-F238E27FC236}">
                <a16:creationId xmlns:a16="http://schemas.microsoft.com/office/drawing/2014/main" id="{4D5C726F-B055-4C9F-91E9-F8EA34FA2B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3716000"/>
          </a:xfrm>
        </p:spPr>
      </p:pic>
      <p:sp>
        <p:nvSpPr>
          <p:cNvPr id="4" name="TextBox 3"/>
          <p:cNvSpPr txBox="1"/>
          <p:nvPr/>
        </p:nvSpPr>
        <p:spPr>
          <a:xfrm>
            <a:off x="2681036" y="6858000"/>
            <a:ext cx="1902192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72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Projekt SK</a:t>
            </a:r>
            <a:endParaRPr lang="en-US" sz="7200" b="1" cap="all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76395" y="11407541"/>
            <a:ext cx="610001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Martin Walldorf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6"/>
          <p:cNvCxnSpPr/>
          <p:nvPr/>
        </p:nvCxnSpPr>
        <p:spPr>
          <a:xfrm flipH="1">
            <a:off x="11354594" y="12233228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065E7305-FB91-40B5-9D83-F8D3F4EF16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397" y="933854"/>
            <a:ext cx="4133705" cy="5315556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F4822F7-64E1-4D53-92A2-18353B6F31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12" y="1365337"/>
            <a:ext cx="3095537" cy="4472109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296EB619-543E-AE82-21CB-1F56B9914F52}"/>
              </a:ext>
            </a:extLst>
          </p:cNvPr>
          <p:cNvSpPr txBox="1"/>
          <p:nvPr/>
        </p:nvSpPr>
        <p:spPr>
          <a:xfrm>
            <a:off x="8870073" y="9538378"/>
            <a:ext cx="664385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I Spotkanie seminaryjne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30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5290240-0297-04D6-2E87-F11316D0AFCE}"/>
              </a:ext>
            </a:extLst>
          </p:cNvPr>
          <p:cNvSpPr txBox="1"/>
          <p:nvPr/>
        </p:nvSpPr>
        <p:spPr>
          <a:xfrm>
            <a:off x="8815370" y="730477"/>
            <a:ext cx="67532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6000" b="1" dirty="0">
                <a:solidFill>
                  <a:schemeClr val="bg1"/>
                </a:solidFill>
              </a:rPr>
              <a:t>Weryfikacja aplikacji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10158AB-90A3-A21F-BF96-AED4FC67F0AF}"/>
              </a:ext>
            </a:extLst>
          </p:cNvPr>
          <p:cNvSpPr txBox="1"/>
          <p:nvPr/>
        </p:nvSpPr>
        <p:spPr>
          <a:xfrm>
            <a:off x="2413000" y="3135631"/>
            <a:ext cx="135731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Model ARX – </a:t>
            </a:r>
            <a:r>
              <a:rPr lang="pl-PL" sz="4400" b="1" dirty="0">
                <a:solidFill>
                  <a:srgbClr val="92D050"/>
                </a:solidFill>
              </a:rPr>
              <a:t>poprawnie</a:t>
            </a:r>
            <a:r>
              <a:rPr lang="pl-PL" sz="4400" dirty="0">
                <a:solidFill>
                  <a:schemeClr val="bg1"/>
                </a:solidFill>
              </a:rPr>
              <a:t> zaimplementowane wektory A i B</a:t>
            </a:r>
          </a:p>
          <a:p>
            <a:endParaRPr lang="pl-PL" sz="4400" dirty="0">
              <a:solidFill>
                <a:schemeClr val="bg1"/>
              </a:solidFill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2AD83DD-3D3B-9044-DE0B-B23F9D1EBE4B}"/>
              </a:ext>
            </a:extLst>
          </p:cNvPr>
          <p:cNvSpPr txBox="1"/>
          <p:nvPr/>
        </p:nvSpPr>
        <p:spPr>
          <a:xfrm>
            <a:off x="2413000" y="4488766"/>
            <a:ext cx="92831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Zmiana parametrów w locie - </a:t>
            </a:r>
            <a:r>
              <a:rPr lang="pl-PL" sz="4400" b="1" dirty="0">
                <a:solidFill>
                  <a:srgbClr val="92D050"/>
                </a:solidFill>
              </a:rPr>
              <a:t>spełnione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D22BF4B-C1DE-16BA-C013-649B1EBD4590}"/>
              </a:ext>
            </a:extLst>
          </p:cNvPr>
          <p:cNvSpPr txBox="1"/>
          <p:nvPr/>
        </p:nvSpPr>
        <p:spPr>
          <a:xfrm>
            <a:off x="2413000" y="5949266"/>
            <a:ext cx="153442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Wyświetlanie danych na czterech osobnych wykresach - </a:t>
            </a:r>
            <a:r>
              <a:rPr lang="pl-PL" sz="4400" b="1" dirty="0">
                <a:solidFill>
                  <a:srgbClr val="92D050"/>
                </a:solidFill>
              </a:rPr>
              <a:t>spełnione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2C4457A-3563-23AF-55B1-670AEFB38A21}"/>
              </a:ext>
            </a:extLst>
          </p:cNvPr>
          <p:cNvSpPr txBox="1"/>
          <p:nvPr/>
        </p:nvSpPr>
        <p:spPr>
          <a:xfrm>
            <a:off x="2413000" y="7181166"/>
            <a:ext cx="93168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Zmiana sposobu całkowania - </a:t>
            </a:r>
            <a:r>
              <a:rPr lang="pl-PL" sz="4400" b="1" dirty="0">
                <a:solidFill>
                  <a:srgbClr val="92D050"/>
                </a:solidFill>
              </a:rPr>
              <a:t>spełnione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E73DA0BB-5ED3-DD1D-2BED-3D1E18E1F4D6}"/>
              </a:ext>
            </a:extLst>
          </p:cNvPr>
          <p:cNvSpPr txBox="1"/>
          <p:nvPr/>
        </p:nvSpPr>
        <p:spPr>
          <a:xfrm>
            <a:off x="2459936" y="8292863"/>
            <a:ext cx="135262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Generator sygnału (prostokątny i sinusoidalny) - </a:t>
            </a:r>
            <a:r>
              <a:rPr lang="pl-PL" sz="4400" b="1" dirty="0">
                <a:solidFill>
                  <a:srgbClr val="92D050"/>
                </a:solidFill>
              </a:rPr>
              <a:t>spełnione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F0FA4EB9-5F92-C51E-61A5-DD0B55666726}"/>
              </a:ext>
            </a:extLst>
          </p:cNvPr>
          <p:cNvSpPr txBox="1"/>
          <p:nvPr/>
        </p:nvSpPr>
        <p:spPr>
          <a:xfrm>
            <a:off x="2413000" y="9524763"/>
            <a:ext cx="103986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Zapis i odczyt konfiguracji (JSON) - </a:t>
            </a:r>
            <a:r>
              <a:rPr lang="pl-PL" sz="4400" b="1" dirty="0">
                <a:solidFill>
                  <a:srgbClr val="92D050"/>
                </a:solidFill>
              </a:rPr>
              <a:t>spełnione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FD4DBDC-9EDC-8609-7C7F-8EB8B6A06B02}"/>
              </a:ext>
            </a:extLst>
          </p:cNvPr>
          <p:cNvSpPr txBox="1"/>
          <p:nvPr/>
        </p:nvSpPr>
        <p:spPr>
          <a:xfrm>
            <a:off x="2413000" y="10756663"/>
            <a:ext cx="161550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Reset symulacji – </a:t>
            </a:r>
            <a:r>
              <a:rPr lang="pl-PL" sz="4400" b="1" dirty="0">
                <a:solidFill>
                  <a:srgbClr val="FF0000"/>
                </a:solidFill>
              </a:rPr>
              <a:t>niespełnione </a:t>
            </a:r>
            <a:r>
              <a:rPr lang="pl-PL" sz="4400" b="1" dirty="0">
                <a:solidFill>
                  <a:schemeClr val="bg1"/>
                </a:solidFill>
              </a:rPr>
              <a:t>(usuwa zadane ustawienia symulacji)</a:t>
            </a:r>
            <a:r>
              <a:rPr lang="pl-PL" sz="4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233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3FCFA-888F-97FC-D305-FE62F3D1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0AB520-3FA5-6A60-AB8A-BF952BFA2924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D3B3CD1-F1C6-C07C-BA3C-5F3FF4B5A530}"/>
              </a:ext>
            </a:extLst>
          </p:cNvPr>
          <p:cNvSpPr txBox="1"/>
          <p:nvPr/>
        </p:nvSpPr>
        <p:spPr>
          <a:xfrm>
            <a:off x="9238980" y="825500"/>
            <a:ext cx="59060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Walidacja aplikacji</a:t>
            </a: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DEC4B036-0160-27A6-E75C-75173FA66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705" y="4069497"/>
            <a:ext cx="10329227" cy="7439491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63F398ED-F8DB-F12B-06C3-894710A611C7}"/>
              </a:ext>
            </a:extLst>
          </p:cNvPr>
          <p:cNvSpPr txBox="1"/>
          <p:nvPr/>
        </p:nvSpPr>
        <p:spPr>
          <a:xfrm flipH="1">
            <a:off x="4972050" y="2750910"/>
            <a:ext cx="14439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Dla ustawień wzorcowych wykresy odbiegają od oczekiwanych</a:t>
            </a:r>
          </a:p>
        </p:txBody>
      </p:sp>
    </p:spTree>
    <p:extLst>
      <p:ext uri="{BB962C8B-B14F-4D97-AF65-F5344CB8AC3E}">
        <p14:creationId xmlns:p14="http://schemas.microsoft.com/office/powerpoint/2010/main" val="248378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F347D-F702-81F4-F66B-7D4A466F2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BB2DDE-72A6-7D27-B8E3-E4BB2C8D42DB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901E343-14E9-4F89-7346-50283D4DB55F}"/>
              </a:ext>
            </a:extLst>
          </p:cNvPr>
          <p:cNvSpPr txBox="1"/>
          <p:nvPr/>
        </p:nvSpPr>
        <p:spPr>
          <a:xfrm>
            <a:off x="7441499" y="673100"/>
            <a:ext cx="95009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6000" dirty="0">
                <a:solidFill>
                  <a:prstClr val="white"/>
                </a:solidFill>
                <a:latin typeface="Calibri" panose="020F0502020204030204"/>
              </a:rPr>
              <a:t>Dwie najsilniejsze strony kodu</a:t>
            </a:r>
            <a:endParaRPr kumimoji="0" lang="pl-PL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BCFDFB3-9718-AA1E-AAD9-830221889E16}"/>
              </a:ext>
            </a:extLst>
          </p:cNvPr>
          <p:cNvSpPr txBox="1"/>
          <p:nvPr/>
        </p:nvSpPr>
        <p:spPr>
          <a:xfrm>
            <a:off x="1674813" y="3567431"/>
            <a:ext cx="179197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Dobrze napisana klasa </a:t>
            </a:r>
            <a:r>
              <a:rPr lang="pl-PL" sz="4400" dirty="0" err="1">
                <a:solidFill>
                  <a:schemeClr val="bg1"/>
                </a:solidFill>
              </a:rPr>
              <a:t>MenagerSymulacji</a:t>
            </a:r>
            <a:r>
              <a:rPr lang="pl-PL" sz="4400" dirty="0">
                <a:solidFill>
                  <a:schemeClr val="bg1"/>
                </a:solidFill>
              </a:rPr>
              <a:t>, która jest pośrednikiem pomiędzy warstwą prezentacji a warstwą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2CD197D-5D75-BC5A-65FF-92CC190F2A08}"/>
              </a:ext>
            </a:extLst>
          </p:cNvPr>
          <p:cNvSpPr txBox="1"/>
          <p:nvPr/>
        </p:nvSpPr>
        <p:spPr>
          <a:xfrm>
            <a:off x="1674813" y="5691408"/>
            <a:ext cx="103670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Dobrze napisana pętla sprzężenia zwrotnego</a:t>
            </a:r>
          </a:p>
        </p:txBody>
      </p:sp>
    </p:spTree>
    <p:extLst>
      <p:ext uri="{BB962C8B-B14F-4D97-AF65-F5344CB8AC3E}">
        <p14:creationId xmlns:p14="http://schemas.microsoft.com/office/powerpoint/2010/main" val="337503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E2689-C1C8-BC51-62A8-66715D63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D63F34-13D5-29CD-49C6-4F2420AB1B6F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918E01D-8234-F12D-38BE-975DF24FEC2B}"/>
              </a:ext>
            </a:extLst>
          </p:cNvPr>
          <p:cNvSpPr txBox="1"/>
          <p:nvPr/>
        </p:nvSpPr>
        <p:spPr>
          <a:xfrm>
            <a:off x="7997570" y="793234"/>
            <a:ext cx="89602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Dwie najsłabsze strony kodu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05466BF-861B-D321-5C9F-0B4D41D60AFB}"/>
              </a:ext>
            </a:extLst>
          </p:cNvPr>
          <p:cNvSpPr txBox="1"/>
          <p:nvPr/>
        </p:nvSpPr>
        <p:spPr>
          <a:xfrm flipH="1">
            <a:off x="2209800" y="3692912"/>
            <a:ext cx="14439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solidFill>
                  <a:schemeClr val="bg1"/>
                </a:solidFill>
              </a:rPr>
              <a:t>W modelu ARX przekazywanie wektorów przez wartość 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B6E6C7B-8145-A556-E2AF-81E1FA573D20}"/>
              </a:ext>
            </a:extLst>
          </p:cNvPr>
          <p:cNvSpPr txBox="1"/>
          <p:nvPr/>
        </p:nvSpPr>
        <p:spPr>
          <a:xfrm>
            <a:off x="2209800" y="5482768"/>
            <a:ext cx="9334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000" dirty="0">
                <a:solidFill>
                  <a:schemeClr val="bg1"/>
                </a:solidFill>
              </a:rPr>
              <a:t>Nieoptymalne skalowanie wykresów w locie</a:t>
            </a:r>
          </a:p>
        </p:txBody>
      </p:sp>
    </p:spTree>
    <p:extLst>
      <p:ext uri="{BB962C8B-B14F-4D97-AF65-F5344CB8AC3E}">
        <p14:creationId xmlns:p14="http://schemas.microsoft.com/office/powerpoint/2010/main" val="52352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0E9F1-B3AC-12B6-BAE2-1DC6B47AD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90EECF-FF1D-982B-5C80-CD5CBDEDCA7A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19301FC-0755-1D56-15D4-E4F82F087512}"/>
              </a:ext>
            </a:extLst>
          </p:cNvPr>
          <p:cNvSpPr txBox="1"/>
          <p:nvPr/>
        </p:nvSpPr>
        <p:spPr>
          <a:xfrm>
            <a:off x="6108122" y="789690"/>
            <a:ext cx="121677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Wstępny projekt protokołu sieciowego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392AB7E-AD3B-7682-3EB5-6FAD4DABA471}"/>
              </a:ext>
            </a:extLst>
          </p:cNvPr>
          <p:cNvSpPr txBox="1"/>
          <p:nvPr/>
        </p:nvSpPr>
        <p:spPr>
          <a:xfrm>
            <a:off x="8563558" y="2993056"/>
            <a:ext cx="58344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Budowa ramki protokołu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56976C2-D39C-FFDB-14FF-E0D169B60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79444"/>
              </p:ext>
            </p:extLst>
          </p:nvPr>
        </p:nvGraphicFramePr>
        <p:xfrm>
          <a:off x="1674813" y="5217583"/>
          <a:ext cx="1625600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67">
                  <a:extLst>
                    <a:ext uri="{9D8B030D-6E8A-4147-A177-3AD203B41FA5}">
                      <a16:colId xmlns:a16="http://schemas.microsoft.com/office/drawing/2014/main" val="4258498503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3534431856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4033850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Typ danych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Rozmiar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27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Preambuła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uint16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2 bajty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47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Typ wiadomości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uint8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 bajt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125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ID sekwencji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uint32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4 bajty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16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Rozmiar danych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uint32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4 bajty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551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Znacznik czasu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8 bajtów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149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Suma kontrolna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uint8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 bajt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011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 err="1"/>
                        <a:t>Payload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/>
                        <a:t>byte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Zmienny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689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46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8C9F5-BD29-3541-F8C9-D7A5D201D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B61FA9-6548-6A8B-197E-ADFCBBEC7AFE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CF28FFB-5CEE-B0F9-B10D-EB9B424B41BB}"/>
              </a:ext>
            </a:extLst>
          </p:cNvPr>
          <p:cNvSpPr txBox="1"/>
          <p:nvPr/>
        </p:nvSpPr>
        <p:spPr>
          <a:xfrm>
            <a:off x="6422171" y="904589"/>
            <a:ext cx="121677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Wstępny projekt protokołu sieciowego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8ADD0E2-2B43-3938-CE4A-3E332808EE67}"/>
              </a:ext>
            </a:extLst>
          </p:cNvPr>
          <p:cNvSpPr txBox="1"/>
          <p:nvPr/>
        </p:nvSpPr>
        <p:spPr>
          <a:xfrm>
            <a:off x="6896499" y="3134074"/>
            <a:ext cx="112190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System oznaczania typu przekazywanych danych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18EEECD-F70A-923F-0379-F56A3C5C0C8E}"/>
              </a:ext>
            </a:extLst>
          </p:cNvPr>
          <p:cNvSpPr txBox="1"/>
          <p:nvPr/>
        </p:nvSpPr>
        <p:spPr>
          <a:xfrm>
            <a:off x="1674813" y="5117337"/>
            <a:ext cx="1541050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pl-PL" sz="4000" dirty="0">
                <a:solidFill>
                  <a:schemeClr val="bg1"/>
                </a:solidFill>
              </a:rPr>
              <a:t>0x01 - </a:t>
            </a:r>
            <a:r>
              <a:rPr lang="pl-PL" sz="4000" b="1" dirty="0">
                <a:solidFill>
                  <a:schemeClr val="bg1"/>
                </a:solidFill>
              </a:rPr>
              <a:t>MSG_SIM_FRAME</a:t>
            </a:r>
            <a:r>
              <a:rPr lang="pl-PL" sz="4000" dirty="0">
                <a:solidFill>
                  <a:schemeClr val="bg1"/>
                </a:solidFill>
              </a:rPr>
              <a:t>: Ramka z danymi symulacji</a:t>
            </a:r>
          </a:p>
          <a:p>
            <a:pPr lvl="0"/>
            <a:endParaRPr lang="pl-PL" sz="4000" dirty="0">
              <a:solidFill>
                <a:schemeClr val="bg1"/>
              </a:solidFill>
            </a:endParaRPr>
          </a:p>
          <a:p>
            <a:pPr lvl="0"/>
            <a:r>
              <a:rPr lang="pl-PL" sz="4000" dirty="0">
                <a:solidFill>
                  <a:schemeClr val="bg1"/>
                </a:solidFill>
              </a:rPr>
              <a:t>0x02 - </a:t>
            </a:r>
            <a:r>
              <a:rPr lang="pl-PL" sz="4000" b="1" dirty="0">
                <a:solidFill>
                  <a:schemeClr val="bg1"/>
                </a:solidFill>
              </a:rPr>
              <a:t>MSG_CONFIG_ALL</a:t>
            </a:r>
            <a:r>
              <a:rPr lang="pl-PL" sz="4000" dirty="0">
                <a:solidFill>
                  <a:schemeClr val="bg1"/>
                </a:solidFill>
              </a:rPr>
              <a:t>: Pełna konfiguracja symulatora UAR </a:t>
            </a:r>
          </a:p>
          <a:p>
            <a:pPr lvl="0"/>
            <a:endParaRPr lang="pl-PL" sz="4000" dirty="0">
              <a:solidFill>
                <a:schemeClr val="bg1"/>
              </a:solidFill>
            </a:endParaRPr>
          </a:p>
          <a:p>
            <a:pPr lvl="0"/>
            <a:r>
              <a:rPr lang="pl-PL" sz="4000" dirty="0">
                <a:solidFill>
                  <a:schemeClr val="bg1"/>
                </a:solidFill>
              </a:rPr>
              <a:t>0x03 - </a:t>
            </a:r>
            <a:r>
              <a:rPr lang="pl-PL" sz="4000" b="1" dirty="0">
                <a:solidFill>
                  <a:schemeClr val="bg1"/>
                </a:solidFill>
              </a:rPr>
              <a:t>MSG_CMD_START</a:t>
            </a:r>
            <a:r>
              <a:rPr lang="pl-PL" sz="4000" dirty="0">
                <a:solidFill>
                  <a:schemeClr val="bg1"/>
                </a:solidFill>
              </a:rPr>
              <a:t>: Komenda sterująca - uruchomienie symulacji</a:t>
            </a:r>
          </a:p>
          <a:p>
            <a:pPr lvl="0"/>
            <a:endParaRPr lang="pl-PL" sz="4000" dirty="0">
              <a:solidFill>
                <a:schemeClr val="bg1"/>
              </a:solidFill>
            </a:endParaRPr>
          </a:p>
          <a:p>
            <a:pPr lvl="0"/>
            <a:r>
              <a:rPr lang="pl-PL" sz="4000" dirty="0">
                <a:solidFill>
                  <a:schemeClr val="bg1"/>
                </a:solidFill>
              </a:rPr>
              <a:t>0x04 - </a:t>
            </a:r>
            <a:r>
              <a:rPr lang="pl-PL" sz="4000" b="1" dirty="0">
                <a:solidFill>
                  <a:schemeClr val="bg1"/>
                </a:solidFill>
              </a:rPr>
              <a:t>MSG_CMD_STOP</a:t>
            </a:r>
            <a:r>
              <a:rPr lang="pl-PL" sz="4000" dirty="0">
                <a:solidFill>
                  <a:schemeClr val="bg1"/>
                </a:solidFill>
              </a:rPr>
              <a:t>: Komenda sterująca - zatrzymanie symulacji</a:t>
            </a:r>
          </a:p>
          <a:p>
            <a:pPr lvl="0"/>
            <a:endParaRPr lang="pl-PL" sz="4000" dirty="0">
              <a:solidFill>
                <a:schemeClr val="bg1"/>
              </a:solidFill>
            </a:endParaRPr>
          </a:p>
          <a:p>
            <a:pPr lvl="0"/>
            <a:r>
              <a:rPr lang="pl-PL" sz="4000" dirty="0">
                <a:solidFill>
                  <a:schemeClr val="bg1"/>
                </a:solidFill>
              </a:rPr>
              <a:t>0x05 - </a:t>
            </a:r>
            <a:r>
              <a:rPr lang="pl-PL" sz="4000" b="1" dirty="0">
                <a:solidFill>
                  <a:schemeClr val="bg1"/>
                </a:solidFill>
              </a:rPr>
              <a:t>MSG_CMD_RESET</a:t>
            </a:r>
            <a:r>
              <a:rPr lang="pl-PL" sz="4000" dirty="0">
                <a:solidFill>
                  <a:schemeClr val="bg1"/>
                </a:solidFill>
              </a:rPr>
              <a:t>: Komenda sterująca - reset układu</a:t>
            </a:r>
          </a:p>
        </p:txBody>
      </p:sp>
    </p:spTree>
    <p:extLst>
      <p:ext uri="{BB962C8B-B14F-4D97-AF65-F5344CB8AC3E}">
        <p14:creationId xmlns:p14="http://schemas.microsoft.com/office/powerpoint/2010/main" val="413945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17FE4-1ED8-A08A-E0BF-570A57419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A47CFC-E4C6-C7A4-EBDA-F352332E0EC2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03FDABC-0F42-733D-4A7A-DE3A73AC0925}"/>
              </a:ext>
            </a:extLst>
          </p:cNvPr>
          <p:cNvSpPr txBox="1"/>
          <p:nvPr/>
        </p:nvSpPr>
        <p:spPr>
          <a:xfrm>
            <a:off x="6108120" y="873642"/>
            <a:ext cx="121677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Wstępny projekt protokołu sieciowego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A9EBD20-9340-7090-2433-05069059059B}"/>
              </a:ext>
            </a:extLst>
          </p:cNvPr>
          <p:cNvSpPr txBox="1"/>
          <p:nvPr/>
        </p:nvSpPr>
        <p:spPr>
          <a:xfrm>
            <a:off x="3506766" y="3135631"/>
            <a:ext cx="173704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System sprawdzania czy komunikacja „wyrabia się” w interwale symulacji. 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EC325F18-A925-4DE5-5D51-208AE4F1CFBA}"/>
              </a:ext>
            </a:extLst>
          </p:cNvPr>
          <p:cNvSpPr txBox="1"/>
          <p:nvPr/>
        </p:nvSpPr>
        <p:spPr>
          <a:xfrm>
            <a:off x="1674813" y="4826000"/>
            <a:ext cx="668292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pl-PL" sz="4400" dirty="0">
                <a:solidFill>
                  <a:schemeClr val="bg1"/>
                </a:solidFill>
              </a:rPr>
              <a:t>Wykrywanie gubienia ramek</a:t>
            </a:r>
          </a:p>
          <a:p>
            <a:pPr lvl="0"/>
            <a:endParaRPr lang="pl-PL" sz="4400" dirty="0">
              <a:solidFill>
                <a:schemeClr val="bg1"/>
              </a:solidFill>
            </a:endParaRPr>
          </a:p>
          <a:p>
            <a:pPr lvl="0"/>
            <a:r>
              <a:rPr lang="pl-PL" sz="4400" dirty="0">
                <a:solidFill>
                  <a:schemeClr val="bg1"/>
                </a:solidFill>
              </a:rPr>
              <a:t>Wykrywanie opóźnień  </a:t>
            </a:r>
          </a:p>
        </p:txBody>
      </p:sp>
    </p:spTree>
    <p:extLst>
      <p:ext uri="{BB962C8B-B14F-4D97-AF65-F5344CB8AC3E}">
        <p14:creationId xmlns:p14="http://schemas.microsoft.com/office/powerpoint/2010/main" val="6132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8AA7-BB66-D447-1416-EF266F1CE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ymbol zastępczy obrazu 12">
            <a:extLst>
              <a:ext uri="{FF2B5EF4-FFF2-40B4-BE49-F238E27FC236}">
                <a16:creationId xmlns:a16="http://schemas.microsoft.com/office/drawing/2014/main" id="{7C9617E4-A284-16E6-9BE3-E5C919FA107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37160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D8E338-C415-3A6F-4F67-5C85EDEC7F50}"/>
              </a:ext>
            </a:extLst>
          </p:cNvPr>
          <p:cNvSpPr txBox="1"/>
          <p:nvPr/>
        </p:nvSpPr>
        <p:spPr>
          <a:xfrm>
            <a:off x="2681036" y="6858000"/>
            <a:ext cx="19021928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110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Dziękuje za uwagę</a:t>
            </a:r>
            <a:endParaRPr lang="en-US" sz="11000" b="1" cap="all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2F8CC-67D7-6F8D-617D-D37B3C3C7307}"/>
              </a:ext>
            </a:extLst>
          </p:cNvPr>
          <p:cNvSpPr txBox="1"/>
          <p:nvPr/>
        </p:nvSpPr>
        <p:spPr>
          <a:xfrm>
            <a:off x="18283989" y="11956229"/>
            <a:ext cx="610001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Martin Walldorf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6">
            <a:extLst>
              <a:ext uri="{FF2B5EF4-FFF2-40B4-BE49-F238E27FC236}">
                <a16:creationId xmlns:a16="http://schemas.microsoft.com/office/drawing/2014/main" id="{D73D4146-EBCB-C6EF-1985-3E93AAC55885}"/>
              </a:ext>
            </a:extLst>
          </p:cNvPr>
          <p:cNvCxnSpPr/>
          <p:nvPr/>
        </p:nvCxnSpPr>
        <p:spPr>
          <a:xfrm flipH="1">
            <a:off x="11354594" y="12233228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8546A792-ABC7-89EC-378F-62B7E2297C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397" y="933854"/>
            <a:ext cx="4133705" cy="5315556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EB1E6202-7D49-E077-88A7-95236201B8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12" y="1365337"/>
            <a:ext cx="3095537" cy="44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5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000000"/>
      </a:dk2>
      <a:lt2>
        <a:srgbClr val="E4E6E8"/>
      </a:lt2>
      <a:accent1>
        <a:srgbClr val="000000"/>
      </a:accent1>
      <a:accent2>
        <a:srgbClr val="7F7F7F"/>
      </a:accent2>
      <a:accent3>
        <a:srgbClr val="A7A7A7"/>
      </a:accent3>
      <a:accent4>
        <a:srgbClr val="000000"/>
      </a:accent4>
      <a:accent5>
        <a:srgbClr val="7F7F7F"/>
      </a:accent5>
      <a:accent6>
        <a:srgbClr val="DCDDD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TM04033921[[fn=Damaszek]]</Template>
  <TotalTime>5170</TotalTime>
  <Words>290</Words>
  <Application>Microsoft Office PowerPoint</Application>
  <PresentationFormat>Niestandardowy</PresentationFormat>
  <Paragraphs>67</Paragraphs>
  <Slides>9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6" baseType="lpstr">
      <vt:lpstr>Arial</vt:lpstr>
      <vt:lpstr>Barlow SCK SemiBold</vt:lpstr>
      <vt:lpstr>Calibri</vt:lpstr>
      <vt:lpstr>Montserrat Light</vt:lpstr>
      <vt:lpstr>Montserrat SemiBold</vt:lpstr>
      <vt:lpstr>Poppins SemiBold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JafarDesigns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JafarDesigns</dc:creator>
  <cp:lastModifiedBy>Martin Walldorf (mw305420)</cp:lastModifiedBy>
  <cp:revision>920</cp:revision>
  <dcterms:created xsi:type="dcterms:W3CDTF">2016-06-20T18:47:00Z</dcterms:created>
  <dcterms:modified xsi:type="dcterms:W3CDTF">2026-04-01T15:59:35Z</dcterms:modified>
</cp:coreProperties>
</file>